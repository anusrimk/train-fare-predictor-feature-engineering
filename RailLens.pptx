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16-35</c:v>
                  </c:pt>
                  <c:pt idx="1">
                    <c:v>35-54</c:v>
                  </c:pt>
                  <c:pt idx="2">
                    <c:v>54-73</c:v>
                  </c:pt>
                  <c:pt idx="3">
                    <c:v>73-92</c:v>
                  </c:pt>
                  <c:pt idx="4">
                    <c:v>92-111</c:v>
                  </c:pt>
                  <c:pt idx="5">
                    <c:v>111-130</c:v>
                  </c:pt>
                  <c:pt idx="6">
                    <c:v>130+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64299</c:v>
                </c:pt>
                <c:pt idx="1">
                  <c:v>40017</c:v>
                </c:pt>
                <c:pt idx="2">
                  <c:v>34980</c:v>
                </c:pt>
                <c:pt idx="3">
                  <c:v>44865</c:v>
                </c:pt>
                <c:pt idx="4">
                  <c:v>16408</c:v>
                </c:pt>
                <c:pt idx="5">
                  <c:v>1686</c:v>
                </c:pt>
                <c:pt idx="6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B26A00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price</c:v>
                  </c:pt>
                  <c:pt idx="1">
                    <c:v>train_class</c:v>
                  </c:pt>
                  <c:pt idx="2">
                    <c:v>fare</c:v>
                  </c:pt>
                  <c:pt idx="3">
                    <c:v>origin</c:v>
                  </c:pt>
                  <c:pt idx="4">
                    <c:v>train_type</c:v>
                  </c:pt>
                  <c:pt idx="5">
                    <c:v>dates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6.29</c:v>
                </c:pt>
                <c:pt idx="1">
                  <c:v>0.3</c:v>
                </c:pt>
                <c:pt idx="2">
                  <c:v>0.3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B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DEEF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duration_min</c:v>
                  </c:pt>
                  <c:pt idx="1">
                    <c:v>route_frequency</c:v>
                  </c:pt>
                  <c:pt idx="2">
                    <c:v>fare: Promo</c:v>
                  </c:pt>
                  <c:pt idx="3">
                    <c:v>dep_hour</c:v>
                  </c:pt>
                  <c:pt idx="4">
                    <c:v>dep_weekday</c:v>
                  </c:pt>
                  <c:pt idx="5">
                    <c:v>train_class: Turista</c:v>
                  </c:pt>
                  <c:pt idx="6">
                    <c:v>train_type: REGIONAL</c:v>
                  </c:pt>
                  <c:pt idx="7">
                    <c:v>advance_days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0.643</c:v>
                </c:pt>
                <c:pt idx="1">
                  <c:v>0.104</c:v>
                </c:pt>
                <c:pt idx="2">
                  <c:v>0.068</c:v>
                </c:pt>
                <c:pt idx="3">
                  <c:v>0.05</c:v>
                </c:pt>
                <c:pt idx="4">
                  <c:v>0.037</c:v>
                </c:pt>
                <c:pt idx="5">
                  <c:v>0.029</c:v>
                </c:pt>
                <c:pt idx="6">
                  <c:v>0.02</c:v>
                </c:pt>
                <c:pt idx="7">
                  <c:v>0.007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B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DEEF5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3657600" cy="4846320"/>
          </a:xfrm>
          <a:prstGeom prst="roundRect">
            <a:avLst>
              <a:gd name="adj" fmla="val 6250"/>
            </a:avLst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1488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RailLens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railway ticket into travel intelligence.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657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feature-engineering and machine-learning system for railway fare prediction — built as a foundation for OCR-based ticket intelligence.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Anusri Karmokar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Scikit-learn  ·  Feature Engineering  ·  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155448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5544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66760" y="239572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3957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3236976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323697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785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66760" y="4078224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CADCFC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40782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46268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66760" y="4919472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49194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Aimed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TECHNICAL OBJECTIVES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railway ticket fares directly from journey, timing and service attributes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full, leakage-safe feature-engineering workflow end to end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foundation that can later accept OCR-scanned tickets as live input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20574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46888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trained, evaluated fare-prediction model with honest, reproducible metrics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feature set: temporal, duration and route/frequency signals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roadmap from research notebook to a deployable travel-intelligence product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8745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0" y="22402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train-ticket-price.csv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2004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high-speed and regional rail fare dataset covering multiple Spanish routes — each row is one ticket offer, with journey timing, service type, class, fare condition and price.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696" y="443484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Origin / Destination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02736" y="443484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02736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Type &amp; Class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8776" y="443484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Condition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814816" y="443484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14816" y="4434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53949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station/train metadata enrichment (zones, coordinates, route topology) is a planned future addition — not part of today's trained model.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Model See?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105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215,909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8105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8105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97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8105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6.29%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60350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70332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/ 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train_class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start_date / end_date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812280" y="3154680"/>
            <a:ext cx="48006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132320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(€)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903720" y="3703320"/>
          <a:ext cx="461772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Missing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by Feature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331720"/>
          <a:ext cx="52120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7373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7512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194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 →  Missing Indicator  →  Robust Scaler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— ticket prices and durations have long tails.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55080" y="388620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4343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Most-Frequent Imputation  →  One-Hot Encoding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49834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only on the training split — no leakage from held-out rows.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EDA TO SIGNAL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Feature Engineering?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ticket data isn't ML-ready on its 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TIMESTAMP LOOKS LIKE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2019-06-02 17:15:00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opaque string — no learnable structure for a model.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EEF2FC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24912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dep_hour  =  17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dep_weekday  =  Sunday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dep_month  =  6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duration_min  =  348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advance_days  =  44.5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route_frequency  =  1,240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3949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6451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937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converts raw information into signals a model can actually learn from.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Used in RailLens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dep_hour</a:t>
            </a:r>
            <a:endParaRPr lang="en-US" sz="10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dep_weekday</a:t>
            </a:r>
            <a:endParaRPr lang="en-US" sz="10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dep_month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LEAD TIME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2461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duration_min</a:t>
            </a:r>
            <a:endParaRPr lang="en-US" sz="10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advance_days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70064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70064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2461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origin_destination</a:t>
            </a:r>
            <a:endParaRPr lang="en-US" sz="10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route_frequency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34856" y="178308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32136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32136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697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272016" y="3246120"/>
            <a:ext cx="2423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train_type</a:t>
            </a:r>
            <a:endParaRPr lang="en-US" sz="10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train_class</a:t>
            </a:r>
            <a:endParaRPr lang="en-US" sz="105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 (one-hot)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11283696" cy="118872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46320"/>
            <a:ext cx="10552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leakage-safe ColumnTransformer — median/most-frequent imputation, robust scaling and one-hot encoding, fitted only on the training split.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— NOT YET IN THE TRAINED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Ticket Image To Structured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EF2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capability: today's model trains on the tabular CSV only. OCR is the next integration step, not a current input to the fare model.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6517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Image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6517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52928" y="265176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52928" y="26517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(Tesseract)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26517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11496" y="265176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11496" y="26517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077456" y="26517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70064" y="265176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70064" y="26517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4" y="265176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28632" y="265176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628632" y="26517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Fields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4206240"/>
            <a:ext cx="594360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29000" y="4370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TARGET OUTPUT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4681728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origin: PONFERRADA   →   destination: MADRID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train_type: MD-AVE      class: Turista con enlace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start_date: 2019-06-02 15:00     fare: Flexible     price: €59.50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248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9065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280160" y="178308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Image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783080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camera capture — planned input path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8209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8026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80160" y="2679192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280160" y="267919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Parser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679192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structured fields from raw text — planned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170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36987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80160" y="3575304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280160" y="357530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3575304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duration, route &amp; frequency features — built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6131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45948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280160" y="4471416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280160" y="4471416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Fare Model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4471416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 — trained &amp; evaluated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5092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54909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80160" y="5367528"/>
            <a:ext cx="28346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280160" y="536752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Estimate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5367528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 returned to the user — planned UI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 Ticket features  →  Price (€)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176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1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RandomForestRegressor(n_estimators=200, max_depth=22, min_samples_leaf=2)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291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was selected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033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nonlinear relationships between timing, route and price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mixed numeric + one-hot categorical features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feature interactions without manual specification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70332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robust to outliers and noisy fare entries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built-in, model-native feature importance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Straightforward to train, validate and deploy with scikit-learn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€11.00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383280" y="1874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€19.50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17920" y="1874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0.41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52560" y="18745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7432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held-out split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11064240" cy="2423160"/>
          </a:xfrm>
          <a:prstGeom prst="roundRect">
            <a:avLst>
              <a:gd name="adj" fmla="val 4528"/>
            </a:avLst>
          </a:prstGeom>
          <a:solidFill>
            <a:srgbClr val="EEF2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7947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numbers mean, in context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160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prices in this dataset range roughly €17–€207 with a mean of €56.72. An average error of about €11 (MAE) means predictions typically land within one price tier of the actual fare. The R² of 0.41 shows the current feature set explains a meaningful share of price variation, but leaves room to improve — most likely by adding the route/station enrichment features planned for the next iteration.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metrics were reproduced on a 40,000-row held-out subsample of the 215,909-row dataset to fit this environment's single-CPU sandbox — treat as directionally representative rather than the exact full-dataset run.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Features Drive the Prediction?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Model-native feature importance (Random Forest)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331720"/>
          <a:ext cx="103327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Opportunity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platforms today know that a user searched, booked, or travelled on a journey — but a ticket itself holds far richer contextual signal.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" y="246888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85216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99816" y="24688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19856" y="246888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9856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Profile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34456" y="24688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4496" y="246888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54496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Behaviour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769096" y="2468880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17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89136" y="2468880"/>
            <a:ext cx="2514600" cy="100584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89136" y="24688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Intelligence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users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43484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 w="12700">
            <a:solidFill>
              <a:srgbClr val="D7DE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43484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/ travel booking platforms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08376" y="443484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 w="12700">
            <a:solidFill>
              <a:srgbClr val="D7DE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99816" y="443484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&amp; transit apps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02352" y="443484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 w="12700">
            <a:solidFill>
              <a:srgbClr val="D7DE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443484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platforms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96328" y="443484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 w="12700">
            <a:solidFill>
              <a:srgbClr val="D7DE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87768" y="443484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management tools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90304" y="4434840"/>
            <a:ext cx="1975104" cy="1371600"/>
          </a:xfrm>
          <a:prstGeom prst="roundRect">
            <a:avLst>
              <a:gd name="adj" fmla="val 6667"/>
            </a:avLst>
          </a:prstGeom>
          <a:solidFill>
            <a:srgbClr val="EEF2FC"/>
          </a:solidFill>
          <a:ln w="12700">
            <a:solidFill>
              <a:srgbClr val="D7DE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81744" y="4434840"/>
            <a:ext cx="1792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rewards programs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Revenue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 as a B2B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API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33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image → parsed fields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08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API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107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trip / route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931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API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87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Travel-behaviour insights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9379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ticket entry, enrich travel context, and enable more relevant, consent-based recommendations.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73736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14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customers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booking platforms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&amp; expense platforms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revenue models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9319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Per-ticket processing fee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API subscription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5074920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0" y="5074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“With user consent, RailLens turns travel documents into structured journey context.”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914400"/>
            <a:ext cx="3657600" cy="4846320"/>
          </a:xfrm>
          <a:prstGeom prst="roundRect">
            <a:avLst>
              <a:gd name="adj" fmla="val 6250"/>
            </a:avLst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RailLens Goes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CADCFC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737360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Feature-engineered fare model, trained &amp; evaluated on train-ticket-price.csv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33472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63347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633472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/ route metadata enrichment (zones, coordinates, distance)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529584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529584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529584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ticket capture feeding the live model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425696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4425696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travel profile from repeat journeys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321808"/>
            <a:ext cx="1554480" cy="749808"/>
          </a:xfrm>
          <a:prstGeom prst="roundRect">
            <a:avLst>
              <a:gd name="adj" fmla="val 9756"/>
            </a:avLst>
          </a:prstGeom>
          <a:solidFill>
            <a:srgbClr val="141B4D"/>
          </a:solidFill>
          <a:ln w="12700">
            <a:solidFill>
              <a:srgbClr val="3944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32180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5321808"/>
            <a:ext cx="8778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recommendation engine &amp; partner API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000232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RailLens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2026-09-26T04:09:43Z</dcterms:created>
  <dcterms:modified xsi:type="dcterms:W3CDTF">2026-09-26T04:09:43Z</dcterms:modified>
</cp:coreProperties>
</file>